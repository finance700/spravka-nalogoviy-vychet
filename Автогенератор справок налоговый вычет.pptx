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56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Автогенератор справок
для налогового вычета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DDEE"/>
                </a:solidFill>
                <a:latin typeface="Calibri"/>
              </a:rPr>
              <a:t>Автоматизация формирования справок КНД 1151158
для клиентов онлайн-школы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657600" cy="43891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3A6C"/>
                </a:solidFill>
                <a:latin typeface="Calibri"/>
              </a:rPr>
              <a:t>Ручное заполнение
справок КНД 1151158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554480"/>
            <a:ext cx="7132320" cy="128016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0" y="1554480"/>
            <a:ext cx="73152" cy="12801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60020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  <a:latin typeface="Calibri"/>
              </a:rPr>
              <a:t>Трудоёмкость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65960"/>
            <a:ext cx="6766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444455"/>
                </a:solidFill>
                <a:latin typeface="Calibri"/>
              </a:rPr>
              <a:t>Одинаковые</a:t>
            </a:r>
            <a:r>
              <a:rPr sz="1400" b="0" dirty="0">
                <a:solidFill>
                  <a:srgbClr val="4444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444455"/>
                </a:solidFill>
                <a:latin typeface="Calibri"/>
              </a:rPr>
              <a:t>действия</a:t>
            </a:r>
            <a:r>
              <a:rPr sz="1400" b="0" dirty="0">
                <a:solidFill>
                  <a:srgbClr val="444455"/>
                </a:solidFill>
                <a:latin typeface="Calibri"/>
              </a:rPr>
              <a:t> </a:t>
            </a:r>
            <a:r>
              <a:rPr sz="1400" b="0" dirty="0" err="1" smtClean="0">
                <a:solidFill>
                  <a:srgbClr val="444455"/>
                </a:solidFill>
                <a:latin typeface="Calibri"/>
              </a:rPr>
              <a:t>повторяются</a:t>
            </a:r>
            <a:r>
              <a:rPr lang="ru-RU" sz="1400" dirty="0" smtClean="0">
                <a:solidFill>
                  <a:srgbClr val="444455"/>
                </a:solidFill>
                <a:latin typeface="Calibri"/>
              </a:rPr>
              <a:t>, иногда приходится выдавать несколько справок даже для 1 клиента</a:t>
            </a:r>
            <a:endParaRPr sz="1400" b="0" dirty="0">
              <a:solidFill>
                <a:srgbClr val="444455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3017520"/>
            <a:ext cx="7132320" cy="128016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3017520"/>
            <a:ext cx="73152" cy="12801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3063239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  <a:latin typeface="Calibri"/>
              </a:rPr>
              <a:t>Риск ошибок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55"/>
                </a:solidFill>
                <a:latin typeface="Calibri"/>
              </a:rPr>
              <a:t>Ручной ввод данных → опечатки
и неверно заполненные поля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480560"/>
            <a:ext cx="7132320" cy="128016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4480560"/>
            <a:ext cx="73152" cy="12801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452628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  <a:latin typeface="Calibri"/>
              </a:rPr>
              <a:t>Масштаб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89204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55"/>
                </a:solidFill>
                <a:latin typeface="Calibri"/>
              </a:rPr>
              <a:t>Каждый клиент онлайн-школы,
запрашивающий вычет, требует
отдельной справки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Пользователь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Финансист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Контролирует расчёты и платежи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Обрабатывает запросы клиентов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Нуждается в скорости и точности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486400" cy="5943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Бухгалтер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Ведёт документооборот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Формирует закрывающие документы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56EBF"/>
                </a:solidFill>
                <a:latin typeface="Calibri"/>
              </a:rPr>
              <a:t>▪  </a:t>
            </a:r>
            <a:r>
              <a:rPr sz="1600">
                <a:solidFill>
                  <a:srgbClr val="444455"/>
                </a:solidFill>
                <a:latin typeface="Calibri"/>
              </a:rPr>
              <a:t>Отвечает за корректность форм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Основная функция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566160" cy="50292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ВХОД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55"/>
                </a:solidFill>
                <a:latin typeface="Calibri"/>
              </a:rPr>
              <a:t>Анкета клиента:
ФИО, ИНН, сумма,
период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743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56EB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356616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566160" cy="50292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59" y="1600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ОБРАБОТКА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55"/>
                </a:solidFill>
                <a:latin typeface="Calibri"/>
              </a:rPr>
              <a:t>Claude API:
Автозаполнение полей
спра вки по шаблону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56EBF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554480"/>
            <a:ext cx="3566160" cy="43891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1554480"/>
            <a:ext cx="3566160" cy="502920"/>
          </a:xfrm>
          <a:prstGeom prst="rect">
            <a:avLst/>
          </a:prstGeom>
          <a:solidFill>
            <a:srgbClr val="1E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16002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ВЫХОД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1945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55"/>
                </a:solidFill>
                <a:latin typeface="Calibri"/>
              </a:rPr>
              <a:t>Готовый PDF:
Справка КНД 1151158
для клиента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56EBF"/>
                </a:solidFill>
                <a:latin typeface="Calibri"/>
              </a:rPr>
              <a:t>Инструменты: Python · Claude API (Anthropic SDK) · ReportLab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</a:rPr>
              <a:t>Что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sz="3200" b="1" dirty="0" err="1">
                <a:solidFill>
                  <a:srgbClr val="FFFFFF"/>
                </a:solidFill>
              </a:rPr>
              <a:t>делает</a:t>
            </a:r>
            <a:r>
              <a:rPr sz="3200" b="1" dirty="0">
                <a:solidFill>
                  <a:srgbClr val="FFFFFF"/>
                </a:solidFill>
              </a:rPr>
              <a:t> </a:t>
            </a:r>
            <a:r>
              <a:rPr lang="ru-RU" sz="3200" b="1" dirty="0" smtClean="0">
                <a:solidFill>
                  <a:srgbClr val="FFFFFF"/>
                </a:solidFill>
              </a:rPr>
              <a:t>Автоматизация</a:t>
            </a:r>
            <a:endParaRPr sz="3200" b="1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47120" cy="880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73152" cy="88000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352" y="1614480"/>
            <a:ext cx="548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56EB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992" y="1614480"/>
            <a:ext cx="1050532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</a:rPr>
              <a:t>Получает анкету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992" y="1934480"/>
            <a:ext cx="10505328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</a:rPr>
              <a:t>ФИО, ИНН, название учреждения, суммы оплат и периоды обучения — всё из структурированной анкеты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1480"/>
            <a:ext cx="11247120" cy="880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461480"/>
            <a:ext cx="73152" cy="88000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352" y="2521480"/>
            <a:ext cx="548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56EB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992" y="2521480"/>
            <a:ext cx="1050532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</a:rPr>
              <a:t>Проверяет входные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992" y="2841480"/>
            <a:ext cx="10505328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</a:rPr>
              <a:t>Контролирует полноту и формат каждого поля: корректность ИНН, наличие дат, числовые значения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8480"/>
            <a:ext cx="11247120" cy="880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368480"/>
            <a:ext cx="73152" cy="88000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352" y="3428480"/>
            <a:ext cx="548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56EBF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8992" y="3428480"/>
            <a:ext cx="1050532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</a:rPr>
              <a:t>Интерпретирует данные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992" y="3748480"/>
            <a:ext cx="10505328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</a:rPr>
              <a:t>Преобразует данные анкеты в структуру, соответствующую требованиям формы КНД 1151158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5480"/>
            <a:ext cx="11247120" cy="880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4275480"/>
            <a:ext cx="73152" cy="88000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352" y="4335480"/>
            <a:ext cx="548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56EBF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992" y="4335480"/>
            <a:ext cx="1050532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</a:rPr>
              <a:t>Заполняет все поля справки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992" y="4655480"/>
            <a:ext cx="10505328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</a:rPr>
              <a:t>Автоматически подставляет значения во все обязательные реквизиты по правилам ФНС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82480"/>
            <a:ext cx="11247120" cy="88000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5182480"/>
            <a:ext cx="73152" cy="88000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352" y="5242480"/>
            <a:ext cx="548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56EBF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8992" y="5242480"/>
            <a:ext cx="1050532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3A6C"/>
                </a:solidFill>
              </a:rPr>
              <a:t>Возвращает готовую структуру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992" y="5562480"/>
            <a:ext cx="10505328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</a:rPr>
              <a:t>Передаёт заполненные данные в ReportLab — скрипт генерирует PDF без ручного вмешательства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Формат результата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Пользователь получает готовый PDF-файл справки КНД 1151158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3566160" cy="34747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35661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3A6C"/>
                </a:solidFill>
                <a:latin typeface="Calibri"/>
              </a:rPr>
              <a:t>Форма КНД 1151158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55"/>
                </a:solidFill>
                <a:latin typeface="Calibri"/>
              </a:rPr>
              <a:t>Официальная форма справки об оплате
образовательных услуг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51760"/>
            <a:ext cx="3566160" cy="34747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2651760"/>
            <a:ext cx="35661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3A6C"/>
                </a:solidFill>
                <a:latin typeface="Calibri"/>
              </a:rPr>
              <a:t>Заполненные поля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290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55"/>
                </a:solidFill>
                <a:latin typeface="Calibri"/>
              </a:rPr>
              <a:t>Все обязательные реквизиты заполнены
автоматически без ручного ввода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651760"/>
            <a:ext cx="3566160" cy="34747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2651760"/>
            <a:ext cx="35661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19" y="2788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3A6C"/>
                </a:solidFill>
                <a:latin typeface="Calibri"/>
              </a:rPr>
              <a:t>Файл 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4290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55"/>
                </a:solidFill>
                <a:latin typeface="Calibri"/>
              </a:rPr>
              <a:t>Готов к немедленной передаче
клиенту — по email или лично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Минимальный функционал (MVP)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5303520" cy="43891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303520" cy="548640"/>
          </a:xfrm>
          <a:prstGeom prst="rect">
            <a:avLst/>
          </a:prstGeom>
          <a:solidFill>
            <a:srgbClr val="1E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✅  Реализовано 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48463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7A3A"/>
                </a:solidFill>
                <a:latin typeface="Calibri"/>
              </a:rPr>
              <a:t>▪ 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Запуск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в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ручном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режиме</a:t>
            </a:r>
            <a:endParaRPr sz="1500" dirty="0">
              <a:solidFill>
                <a:srgbClr val="444455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7A3A"/>
                </a:solidFill>
                <a:latin typeface="Calibri"/>
              </a:rPr>
              <a:t>▪ 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Бухгалтер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запускает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генерацию</a:t>
            </a:r>
            <a:r>
              <a:rPr sz="1500" dirty="0">
                <a:solidFill>
                  <a:srgbClr val="444455"/>
                </a:solidFill>
                <a:latin typeface="Calibri"/>
              </a:rPr>
              <a:t>
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вручную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по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каждому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запросу</a:t>
            </a:r>
            <a:endParaRPr sz="1500" dirty="0">
              <a:solidFill>
                <a:srgbClr val="444455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1E7A3A"/>
                </a:solidFill>
                <a:latin typeface="Calibri"/>
              </a:rPr>
              <a:t>▪ 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Готовый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PDF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на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 smtClean="0">
                <a:solidFill>
                  <a:srgbClr val="444455"/>
                </a:solidFill>
                <a:latin typeface="Calibri"/>
              </a:rPr>
              <a:t>выходе</a:t>
            </a:r>
            <a:endParaRPr lang="ru-RU" sz="1500" dirty="0" smtClean="0">
              <a:solidFill>
                <a:srgbClr val="4444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ru-RU" sz="1500" dirty="0">
                <a:solidFill>
                  <a:srgbClr val="1E7A3A"/>
                </a:solidFill>
              </a:rPr>
              <a:t>▪  </a:t>
            </a:r>
            <a:r>
              <a:rPr lang="ru-RU" sz="1500" dirty="0" smtClean="0">
                <a:solidFill>
                  <a:srgbClr val="444455"/>
                </a:solidFill>
              </a:rPr>
              <a:t>Ежедневная автопроверка новых анкет</a:t>
            </a:r>
            <a:endParaRPr lang="ru-RU" sz="1500" dirty="0">
              <a:solidFill>
                <a:srgbClr val="444455"/>
              </a:solidFill>
            </a:endParaRPr>
          </a:p>
          <a:p>
            <a:pPr algn="l">
              <a:spcAft>
                <a:spcPts val="600"/>
              </a:spcAft>
            </a:pPr>
            <a:endParaRPr lang="ru-RU" sz="1500" dirty="0" smtClean="0">
              <a:solidFill>
                <a:srgbClr val="444455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sz="1500" dirty="0">
              <a:solidFill>
                <a:srgbClr val="444455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5303520" cy="4389120"/>
          </a:xfrm>
          <a:prstGeom prst="rect">
            <a:avLst/>
          </a:prstGeom>
          <a:solidFill>
            <a:srgbClr val="FE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5303520" cy="548640"/>
          </a:xfrm>
          <a:prstGeom prst="rect">
            <a:avLst/>
          </a:prstGeom>
          <a:solidFill>
            <a:srgbClr val="C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🔜  Планируется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31720"/>
            <a:ext cx="484632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dirty="0" smtClean="0">
                <a:solidFill>
                  <a:srgbClr val="C06A00"/>
                </a:solidFill>
                <a:latin typeface="Calibri"/>
              </a:rPr>
              <a:t>▪ 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Автоматическая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отправка</a:t>
            </a:r>
            <a:r>
              <a:rPr sz="1500" dirty="0">
                <a:solidFill>
                  <a:srgbClr val="444455"/>
                </a:solidFill>
                <a:latin typeface="Calibri"/>
              </a:rPr>
              <a:t>
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готовых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справок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на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email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клиента</a:t>
            </a:r>
            <a:endParaRPr sz="1500" dirty="0">
              <a:solidFill>
                <a:srgbClr val="444455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sz="1500" dirty="0">
                <a:solidFill>
                  <a:srgbClr val="C06A00"/>
                </a:solidFill>
                <a:latin typeface="Calibri"/>
              </a:rPr>
              <a:t>▪ 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Уведомления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о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статусе</a:t>
            </a:r>
            <a:r>
              <a:rPr sz="1500" dirty="0">
                <a:solidFill>
                  <a:srgbClr val="444455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444455"/>
                </a:solidFill>
                <a:latin typeface="Calibri"/>
              </a:rPr>
              <a:t>обработки</a:t>
            </a:r>
            <a:endParaRPr sz="1500" dirty="0">
              <a:solidFill>
                <a:srgbClr val="4444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Технологии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1967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Учебный проект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2651760" cy="43891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26517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2377440" cy="100584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  <a:latin typeface="Calibri"/>
              </a:rPr>
              <a:t>Язык программирования.
Основная логика скрипта и
оркестрация процесса.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645920"/>
            <a:ext cx="2651760" cy="43891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91840" y="1645920"/>
            <a:ext cx="26517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1920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ReportLab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97180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  <a:latin typeface="Calibri"/>
              </a:rPr>
              <a:t>Генерация PDF-документов.
Вёрстка справки по
официальной форме.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45920"/>
            <a:ext cx="2651760" cy="4389120"/>
          </a:xfrm>
          <a:prstGeom prst="rect">
            <a:avLst/>
          </a:prstGeom>
          <a:solidFill>
            <a:srgbClr val="D9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1645920"/>
            <a:ext cx="2651760" cy="73152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1828800"/>
            <a:ext cx="2377440" cy="1005840"/>
          </a:xfrm>
          <a:prstGeom prst="rect">
            <a:avLst/>
          </a:prstGeom>
          <a:solidFill>
            <a:srgbClr val="256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1920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Структурированная
анкета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971800"/>
            <a:ext cx="2423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55"/>
                </a:solidFill>
                <a:latin typeface="Calibri"/>
              </a:rPr>
              <a:t>Формат ввода: данные
клиента (ФИО, ИНН, суммы,
периоды обучения).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285</Words>
  <Application>Microsoft Office PowerPoint</Application>
  <PresentationFormat>Произвольный</PresentationFormat>
  <Paragraphs>79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1</cp:lastModifiedBy>
  <cp:revision>2</cp:revision>
  <dcterms:created xsi:type="dcterms:W3CDTF">2013-01-27T09:14:16Z</dcterms:created>
  <dcterms:modified xsi:type="dcterms:W3CDTF">2026-06-13T12:28:15Z</dcterms:modified>
  <cp:category/>
</cp:coreProperties>
</file>